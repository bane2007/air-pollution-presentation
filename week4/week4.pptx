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139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21488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722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School Zones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9077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6F65"/>
                </a:solidFill>
              </a:rPr>
              <a:t>Low-cost sensors for school transport idling + AC efficiency monitoring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9808" y="3511296"/>
            <a:ext cx="3977640" cy="0"/>
          </a:xfrm>
          <a:prstGeom prst="line">
            <a:avLst/>
          </a:prstGeom>
          <a:noFill/>
          <a:ln w="38100">
            <a:solidFill>
              <a:srgbClr val="2F7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21B"/>
                </a:solidFill>
              </a:rPr>
              <a:t>2 sensors per vehicle: outside exhaust exposure + inside cabin air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33425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21B"/>
                </a:solidFill>
              </a:rPr>
              <a:t>Goal: identify repeat offenders and trigger maintenance / anti-idling action.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5"/>
                </a:solidFill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Prioritization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972800" cy="0"/>
          </a:xfrm>
          <a:prstGeom prst="line">
            <a:avLst/>
          </a:prstGeom>
          <a:noFill/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5"/>
                </a:solidFill>
              </a:rPr>
              <a:t>2 /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17320" y="5788152"/>
            <a:ext cx="9418320" cy="0"/>
          </a:xfrm>
          <a:prstGeom prst="line">
            <a:avLst/>
          </a:prstGeom>
          <a:noFill/>
          <a:ln w="19050">
            <a:solidFill>
              <a:srgbClr val="1722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5788152"/>
            <a:ext cx="0" cy="0"/>
          </a:xfrm>
          <a:prstGeom prst="line">
            <a:avLst/>
          </a:prstGeom>
          <a:noFill/>
          <a:ln w="19050">
            <a:solidFill>
              <a:srgbClr val="1722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34840" y="6044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21B"/>
                </a:solidFill>
              </a:rPr>
              <a:t>Implementation 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 rot="16200000">
            <a:off x="502920" y="31363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21B"/>
                </a:solidFill>
              </a:rPr>
              <a:t>Payoff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01368" y="16916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DFF0E7"/>
          </a:solidFill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02536" y="1874520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7D4B"/>
                </a:solidFill>
              </a:rPr>
              <a:t>URGENT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02536" y="2221992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21B"/>
                </a:solidFill>
              </a:rPr>
              <a:t>Easy to implement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21B"/>
                </a:solidFill>
              </a:rPr>
              <a:t>High payoff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02536" y="283464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F6F65"/>
                </a:solidFill>
              </a:rPr>
              <a:t>Start pilot: CO spikes + idling alerts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163056" y="16916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F0CC"/>
          </a:solidFill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4224" y="1874520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1B"/>
                </a:solidFill>
              </a:rPr>
              <a:t>STRATEGIC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221992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21B"/>
                </a:solidFill>
              </a:rPr>
              <a:t>Hard to implement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21B"/>
                </a:solidFill>
              </a:rPr>
              <a:t>High payoff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283464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F6F65"/>
                </a:solidFill>
              </a:rPr>
              <a:t>Fleet policy, operator scoring, city reporting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801368" y="3675888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02536" y="385876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1B"/>
                </a:solidFill>
              </a:rPr>
              <a:t>OPTIONAL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02536" y="4206240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21B"/>
                </a:solidFill>
              </a:rPr>
              <a:t>Easy to implement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21B"/>
                </a:solidFill>
              </a:rPr>
              <a:t>Low payoff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02536" y="48188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F6F65"/>
                </a:solidFill>
              </a:rPr>
              <a:t>Dashboard polish, badges, manual notes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63056" y="3675888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E4E1"/>
          </a:solidFill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64224" y="3858768"/>
            <a:ext cx="3758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1B"/>
                </a:solidFill>
              </a:rPr>
              <a:t>AVOID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64224" y="4206240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21B"/>
                </a:solidFill>
              </a:rPr>
              <a:t>Hard to implement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21B"/>
                </a:solidFill>
              </a:rPr>
              <a:t>Low payoff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4224" y="481888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F6F65"/>
                </a:solidFill>
              </a:rPr>
              <a:t>Over-complex prediction before data quality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737360" y="5806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F65"/>
                </a:solidFill>
              </a:rPr>
              <a:t>Easy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332720" y="5806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F65"/>
                </a:solidFill>
              </a:rPr>
              <a:t>Hard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" y="15819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F65"/>
                </a:solidFill>
              </a:rPr>
              <a:t>High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5486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F65"/>
                </a:solidFill>
              </a:rPr>
              <a:t>Low</a:t>
            </a:r>
            <a:endParaRPr lang="en-US" sz="10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4D9EE36B-5F6E-D134-1BB9-9626C0E243E2}"/>
              </a:ext>
            </a:extLst>
          </p:cNvPr>
          <p:cNvSpPr/>
          <p:nvPr/>
        </p:nvSpPr>
        <p:spPr>
          <a:xfrm flipH="1" flipV="1">
            <a:off x="1417320" y="1691640"/>
            <a:ext cx="18288" cy="4078225"/>
          </a:xfrm>
          <a:prstGeom prst="line">
            <a:avLst/>
          </a:prstGeom>
          <a:noFill/>
          <a:ln w="19050">
            <a:solidFill>
              <a:srgbClr val="1722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Cheap Sensor Candidate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972800" cy="0"/>
          </a:xfrm>
          <a:prstGeom prst="line">
            <a:avLst/>
          </a:prstGeom>
          <a:noFill/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5"/>
                </a:solidFill>
              </a:rPr>
              <a:t>3 /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1B"/>
                </a:solidFill>
              </a:rPr>
              <a:t>MQ-7B Carbon Monoxide Sensor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6384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B"/>
                </a:solidFill>
              </a:rPr>
              <a:t>Main feature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7D4B"/>
                </a:solidFill>
              </a:rPr>
              <a:t>Detects CO spikes from idling exhaust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37033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21B"/>
                </a:solidFill>
              </a:rPr>
              <a:t>Useful range: 10–500 ppm CO • 5V operation • simple analog circuit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6384" y="416052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F6F65"/>
                </a:solidFill>
              </a:rPr>
              <a:t>Use it as the outside sensor; pair readings with GPS/time to flag idling hot-spots near school gates.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944416" y="3909059"/>
            <a:ext cx="1312164" cy="2093978"/>
          </a:xfrm>
          <a:prstGeom prst="roundRect">
            <a:avLst>
              <a:gd name="adj" fmla="val 5581"/>
            </a:avLst>
          </a:prstGeom>
          <a:solidFill>
            <a:srgbClr val="EDF1EF"/>
          </a:solidFill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52976" y="3909059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221B"/>
                </a:solidFill>
              </a:rPr>
              <a:t>Outside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7221B"/>
                </a:solidFill>
              </a:rPr>
              <a:t>vehicle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081576" y="4713732"/>
            <a:ext cx="1005840" cy="914400"/>
          </a:xfrm>
          <a:prstGeom prst="arc">
            <a:avLst/>
          </a:prstGeom>
          <a:noFill/>
          <a:ln w="38100">
            <a:solidFill>
              <a:srgbClr val="2F7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52976" y="56738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D4B"/>
                </a:solidFill>
              </a:rPr>
              <a:t>CO alert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5897880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F6F65"/>
                </a:solidFill>
              </a:rPr>
              <a:t>Source: Winsen MQ-7B specifications; not a certified emissions tester — calibration is required.</a:t>
            </a:r>
            <a:endParaRPr lang="en-US" sz="98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92935E-5B69-1CA9-DC14-1EE4833E6D84}"/>
              </a:ext>
            </a:extLst>
          </p:cNvPr>
          <p:cNvSpPr txBox="1"/>
          <p:nvPr/>
        </p:nvSpPr>
        <p:spPr>
          <a:xfrm>
            <a:off x="10118635" y="4881051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25%</a:t>
            </a:r>
          </a:p>
        </p:txBody>
      </p:sp>
      <p:pic>
        <p:nvPicPr>
          <p:cNvPr id="16" name="Picture 15" descr="MQ 7 Gas Sensor Module Carbon Monoxide Detection | TechMaze General Trading">
            <a:extLst>
              <a:ext uri="{FF2B5EF4-FFF2-40B4-BE49-F238E27FC236}">
                <a16:creationId xmlns:a16="http://schemas.microsoft.com/office/drawing/2014/main" id="{9EA1BC2E-8C1A-7803-CEE1-ADCEFD09D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1085345"/>
            <a:ext cx="2700528" cy="2617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Risk Assumptions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972800" cy="0"/>
          </a:xfrm>
          <a:prstGeom prst="line">
            <a:avLst/>
          </a:prstGeom>
          <a:noFill/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5"/>
                </a:solidFill>
              </a:rPr>
              <a:t>4 /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" y="1618488"/>
            <a:ext cx="457200" cy="457200"/>
          </a:xfrm>
          <a:prstGeom prst="ellipse">
            <a:avLst/>
          </a:prstGeom>
          <a:solidFill>
            <a:srgbClr val="2F7D4B"/>
          </a:solidFill>
          <a:ln w="12700">
            <a:solidFill>
              <a:srgbClr val="2F7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7099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157276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21B"/>
                </a:solidFill>
              </a:rPr>
              <a:t>Sensor signal is meaningful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90472" y="20116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F65"/>
                </a:solidFill>
              </a:rPr>
              <a:t>Low-cost CO/air sensors must correlate with real exposure, not just noise.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3035808"/>
            <a:ext cx="457200" cy="457200"/>
          </a:xfrm>
          <a:prstGeom prst="ellipse">
            <a:avLst/>
          </a:prstGeom>
          <a:solidFill>
            <a:srgbClr val="2F7D4B"/>
          </a:solidFill>
          <a:ln w="12700">
            <a:solidFill>
              <a:srgbClr val="2F7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3127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1328" y="299008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21B"/>
                </a:solidFill>
              </a:rPr>
              <a:t>Placement stays reliable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90472" y="342900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F65"/>
                </a:solidFill>
              </a:rPr>
              <a:t>Heat, vibration, rain, dust, and airflow must not distort readings too much.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" y="4453128"/>
            <a:ext cx="457200" cy="457200"/>
          </a:xfrm>
          <a:prstGeom prst="ellipse">
            <a:avLst/>
          </a:prstGeom>
          <a:solidFill>
            <a:srgbClr val="2F7D4B"/>
          </a:solidFill>
          <a:ln w="12700">
            <a:solidFill>
              <a:srgbClr val="2F7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4544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44074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21B"/>
                </a:solidFill>
              </a:rPr>
              <a:t>Schools will act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0472" y="484632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F65"/>
                </a:solidFill>
              </a:rPr>
              <a:t>Alerts only matter if operators enforce anti-idling and fix inefficient AC units.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 flipH="1">
            <a:off x="1033272" y="2084831"/>
            <a:ext cx="0" cy="950977"/>
          </a:xfrm>
          <a:prstGeom prst="line">
            <a:avLst/>
          </a:prstGeom>
          <a:noFill/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B516D49-7E4A-0F8F-8250-6C472E74D6BC}"/>
              </a:ext>
            </a:extLst>
          </p:cNvPr>
          <p:cNvSpPr/>
          <p:nvPr/>
        </p:nvSpPr>
        <p:spPr>
          <a:xfrm flipH="1">
            <a:off x="1033272" y="3493008"/>
            <a:ext cx="0" cy="950977"/>
          </a:xfrm>
          <a:prstGeom prst="line">
            <a:avLst/>
          </a:prstGeom>
          <a:noFill/>
          <a:ln w="12700">
            <a:solidFill>
              <a:srgbClr val="CF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247</Words>
  <Application>Microsoft Macintosh PowerPoint</Application>
  <PresentationFormat>Widescreen</PresentationFormat>
  <Paragraphs>56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School Zones</dc:title>
  <dc:subject>School zone air pollution sensor concept</dc:subject>
  <dc:creator>OpenAI</dc:creator>
  <cp:lastModifiedBy>Paul Tiju</cp:lastModifiedBy>
  <cp:revision>3</cp:revision>
  <dcterms:created xsi:type="dcterms:W3CDTF">2026-09-28T12:26:20Z</dcterms:created>
  <dcterms:modified xsi:type="dcterms:W3CDTF">2026-09-28T12:34:55Z</dcterms:modified>
</cp:coreProperties>
</file>